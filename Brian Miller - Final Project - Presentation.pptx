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
    <p:restoredTop sz="94708"/>
  </p:normalViewPr>
  <p:slideViewPr>
    <p:cSldViewPr snapToGrid="0" snapToObjects="1">
      <p:cViewPr varScale="1">
        <p:scale>
          <a:sx n="214" d="100"/>
          <a:sy n="214" d="100"/>
        </p:scale>
        <p:origin x="311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246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ten models, one dataset, one fixed test set.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Motivation is personal — fill in why you chose this problem.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dataset, two representations, one fixed song-level split shared by every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Blue = feature-table branch, orange = spectrogram branch, grey = shared stages.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classical algorithms span margin-based, bagged, instance-based and boosted methods.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Balanced classes make accuracy meaningful; AUC shows ranking quality beyond the top prediction.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Tuning raised every accuracy; Random Forest gained the most.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attempt to improve the CNN failed to beat simpler baselines.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top five span only 11 songs.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 scale — the CNN took over 1,000× Random Forest's training time.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Training accuracy ~1.00 by epoch 18; validation plateaus near 0.74.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Rock: recall 0.60 but AUC 0.91 — ranked plausibly, rarely picked first. Also over-predicted: 21 predictions, 12 correct.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takeaway: data volume, not model capacity, is the binding constraint.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challenge was found by a targeted diagnostic test in the notebook.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Draft — review against course discussion. Key point: GTZAN records nothing about performers, so representation bias cannot even be measured; and the music that is easiest to collect online is disproportionately recent, Western and English-language.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Consistent with Akhtar &amp; Mishra (2025): engineered features beat a CNN on GTZAN.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6255"/>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920240"/>
            <a:ext cx="10515600" cy="2462213"/>
          </a:xfrm>
          <a:prstGeom prst="rect">
            <a:avLst/>
          </a:prstGeom>
          <a:noFill/>
        </p:spPr>
        <p:txBody>
          <a:bodyPr wrap="square">
            <a:spAutoFit/>
          </a:bodyPr>
          <a:lstStyle/>
          <a:p>
            <a:r>
              <a:rPr sz="4400" b="1" dirty="0">
                <a:solidFill>
                  <a:srgbClr val="FFFFFF"/>
                </a:solidFill>
              </a:rPr>
              <a:t>Classification of Music by Genre</a:t>
            </a:r>
          </a:p>
          <a:p>
            <a:r>
              <a:rPr sz="2600" b="0" dirty="0">
                <a:solidFill>
                  <a:srgbClr val="DDE6F0"/>
                </a:solidFill>
              </a:rPr>
              <a:t>Classical Machine Learning versus Neural Networks on GTZAN</a:t>
            </a:r>
          </a:p>
          <a:p>
            <a:endParaRPr sz="2600" b="0" dirty="0">
              <a:solidFill>
                <a:srgbClr val="DDE6F0"/>
              </a:solidFill>
            </a:endParaRPr>
          </a:p>
          <a:p>
            <a:r>
              <a:rPr sz="2200" b="0" dirty="0">
                <a:solidFill>
                  <a:srgbClr val="DDE6F0"/>
                </a:solidFill>
              </a:rPr>
              <a:t>Brian Miller</a:t>
            </a:r>
          </a:p>
          <a:p>
            <a:r>
              <a:rPr sz="1800" b="0" dirty="0">
                <a:solidFill>
                  <a:srgbClr val="DDE6F0"/>
                </a:solidFill>
              </a:rPr>
              <a:t>TECH 27 — Machine Learning with Python — Summer 2026</a:t>
            </a:r>
          </a:p>
          <a:p>
            <a:r>
              <a:rPr lang="en-US" b="1" dirty="0">
                <a:solidFill>
                  <a:schemeClr val="bg1"/>
                </a:solidFill>
              </a:rPr>
              <a:t>September 10, 2026</a:t>
            </a:r>
            <a:endParaRPr sz="1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Objective and Motivation</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3893374"/>
          </a:xfrm>
          <a:prstGeom prst="rect">
            <a:avLst/>
          </a:prstGeom>
          <a:noFill/>
        </p:spPr>
        <p:txBody>
          <a:bodyPr wrap="square">
            <a:spAutoFit/>
          </a:bodyPr>
          <a:lstStyle/>
          <a:p>
            <a:pPr>
              <a:spcAft>
                <a:spcPts val="800"/>
              </a:spcAft>
            </a:pPr>
            <a:r>
              <a:rPr sz="2000" b="0" dirty="0"/>
              <a:t>•  Classify 30-second music clips into 10 genres</a:t>
            </a:r>
          </a:p>
          <a:p>
            <a:pPr>
              <a:spcAft>
                <a:spcPts val="400"/>
              </a:spcAft>
            </a:pPr>
            <a:r>
              <a:rPr sz="1700" b="0" dirty="0"/>
              <a:t>      –  blues, classical, country, disco, hip-hop, jazz, metal, pop, reggae, rock</a:t>
            </a:r>
          </a:p>
          <a:p>
            <a:pPr>
              <a:spcAft>
                <a:spcPts val="800"/>
              </a:spcAft>
            </a:pPr>
            <a:r>
              <a:rPr sz="2000" b="0" dirty="0"/>
              <a:t>•  Compare classical ML against neural networks on identical test songs</a:t>
            </a:r>
          </a:p>
          <a:p>
            <a:pPr>
              <a:spcAft>
                <a:spcPts val="800"/>
              </a:spcAft>
            </a:pPr>
            <a:r>
              <a:rPr sz="2000" b="0" dirty="0"/>
              <a:t>•  Ask: does more model capacity help on a small dataset?</a:t>
            </a:r>
          </a:p>
          <a:p>
            <a:pPr>
              <a:spcAft>
                <a:spcPts val="800"/>
              </a:spcAft>
            </a:pPr>
            <a:r>
              <a:rPr sz="2000" b="0" dirty="0"/>
              <a:t>•  Motivation:</a:t>
            </a:r>
            <a:endParaRPr lang="en-US" sz="2000" b="0" dirty="0"/>
          </a:p>
          <a:p>
            <a:pPr>
              <a:spcAft>
                <a:spcPts val="800"/>
              </a:spcAft>
            </a:pPr>
            <a:r>
              <a:rPr lang="en-US" sz="2000" dirty="0"/>
              <a:t>	This problem is of interest to me because I am a music fan, and interested in how computers can recommend music that is new to me and similar to other music I am already familiar with. One way is to limit by genre and recommend more in the same genres that I tend to prefer. In addition to recommendations, it can also be helpful for automated tagging of digital audio files in a collection, and to assist in searching when a listener desires to hear music from a particular genre(s) or to exclude others.</a:t>
            </a:r>
            <a:r>
              <a:rPr sz="2000" b="0" dirty="0"/>
              <a:t> </a:t>
            </a:r>
            <a:endParaRPr sz="2000" b="1"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Dataset: GTZAN</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4937760"/>
          </a:xfrm>
          <a:prstGeom prst="rect">
            <a:avLst/>
          </a:prstGeom>
          <a:noFill/>
        </p:spPr>
        <p:txBody>
          <a:bodyPr wrap="square">
            <a:spAutoFit/>
          </a:bodyPr>
          <a:lstStyle/>
          <a:p>
            <a:pPr>
              <a:spcAft>
                <a:spcPts val="800"/>
              </a:spcAft>
            </a:pPr>
            <a:r>
              <a:rPr sz="2000" b="0"/>
              <a:t>•  1,000 thirty-second clips — 100 per genre — perfectly balanced</a:t>
            </a:r>
          </a:p>
          <a:p>
            <a:pPr>
              <a:spcAft>
                <a:spcPts val="800"/>
              </a:spcAft>
            </a:pPr>
            <a:r>
              <a:rPr sz="2000" b="0"/>
              <a:t>•  Two representations of each clip:</a:t>
            </a:r>
          </a:p>
          <a:p>
            <a:pPr>
              <a:spcAft>
                <a:spcPts val="400"/>
              </a:spcAft>
            </a:pPr>
            <a:r>
              <a:rPr sz="1700" b="0"/>
              <a:t>      –  58 pre-extracted audio features (MFCC, chroma, spectral, rhythm)</a:t>
            </a:r>
          </a:p>
          <a:p>
            <a:pPr>
              <a:spcAft>
                <a:spcPts val="400"/>
              </a:spcAft>
            </a:pPr>
            <a:r>
              <a:rPr sz="1700" b="0"/>
              <a:t>      –  a mel-spectrogram image (999 available — one jazz clip missing)</a:t>
            </a:r>
          </a:p>
          <a:p>
            <a:pPr>
              <a:spcAft>
                <a:spcPts val="800"/>
              </a:spcAft>
            </a:pPr>
            <a:r>
              <a:rPr sz="2000" b="0"/>
              <a:t>•  Stratified song-level split: 800 training / 200 test songs (20 per genre)</a:t>
            </a:r>
          </a:p>
          <a:p>
            <a:pPr>
              <a:spcAft>
                <a:spcPts val="400"/>
              </a:spcAft>
            </a:pPr>
            <a:r>
              <a:rPr sz="1700" b="0"/>
              <a:t>      –  the identical 200 test songs are used for all ten models</a:t>
            </a:r>
          </a:p>
          <a:p>
            <a:pPr>
              <a:spcAft>
                <a:spcPts val="800"/>
              </a:spcAft>
            </a:pPr>
            <a:r>
              <a:rPr sz="2000" b="0"/>
              <a:t>•  Neural networks: further 639 / 160 train / validation split for tuning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Project Pipeline</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pic>
        <p:nvPicPr>
          <p:cNvPr id="5" name="Picture 4" descr="block_diagram.png"/>
          <p:cNvPicPr>
            <a:picLocks noChangeAspect="1"/>
          </p:cNvPicPr>
          <p:nvPr/>
        </p:nvPicPr>
        <p:blipFill>
          <a:blip r:embed="rId3"/>
          <a:stretch>
            <a:fillRect/>
          </a:stretch>
        </p:blipFill>
        <p:spPr>
          <a:xfrm>
            <a:off x="2757940" y="1188720"/>
            <a:ext cx="6645639"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Ten Models, Two Families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graphicFrame>
        <p:nvGraphicFramePr>
          <p:cNvPr id="5" name="Table 4"/>
          <p:cNvGraphicFramePr>
            <a:graphicFrameLocks noGrp="1"/>
          </p:cNvGraphicFramePr>
          <p:nvPr/>
        </p:nvGraphicFramePr>
        <p:xfrm>
          <a:off x="640080" y="1371600"/>
          <a:ext cx="10881360" cy="22250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11480">
                <a:tc>
                  <a:txBody>
                    <a:bodyPr/>
                    <a:lstStyle/>
                    <a:p>
                      <a:r>
                        <a:rPr sz="1600" b="1"/>
                        <a:t>Family</a:t>
                      </a:r>
                    </a:p>
                  </a:txBody>
                  <a:tcPr/>
                </a:tc>
                <a:tc>
                  <a:txBody>
                    <a:bodyPr/>
                    <a:lstStyle/>
                    <a:p>
                      <a:r>
                        <a:rPr sz="1600" b="1"/>
                        <a:t>Model</a:t>
                      </a:r>
                    </a:p>
                  </a:txBody>
                  <a:tcPr/>
                </a:tc>
                <a:tc>
                  <a:txBody>
                    <a:bodyPr/>
                    <a:lstStyle/>
                    <a:p>
                      <a:r>
                        <a:rPr sz="1600" b="1"/>
                        <a:t>Input</a:t>
                      </a:r>
                    </a:p>
                  </a:txBody>
                  <a:tcPr/>
                </a:tc>
                <a:extLst>
                  <a:ext uri="{0D108BD9-81ED-4DB2-BD59-A6C34878D82A}">
                    <a16:rowId xmlns:a16="http://schemas.microsoft.com/office/drawing/2014/main" val="10000"/>
                  </a:ext>
                </a:extLst>
              </a:tr>
              <a:tr h="411480">
                <a:tc>
                  <a:txBody>
                    <a:bodyPr/>
                    <a:lstStyle/>
                    <a:p>
                      <a:r>
                        <a:rPr sz="1600" b="0"/>
                        <a:t>Classical ML</a:t>
                      </a:r>
                    </a:p>
                  </a:txBody>
                  <a:tcPr/>
                </a:tc>
                <a:tc>
                  <a:txBody>
                    <a:bodyPr/>
                    <a:lstStyle/>
                    <a:p>
                      <a:r>
                        <a:rPr sz="1600" b="0"/>
                        <a:t>SVM · Random Forest · k-NN · Gradient Boosting (each tuned by grid search)</a:t>
                      </a:r>
                    </a:p>
                  </a:txBody>
                  <a:tcPr/>
                </a:tc>
                <a:tc>
                  <a:txBody>
                    <a:bodyPr/>
                    <a:lstStyle/>
                    <a:p>
                      <a:r>
                        <a:rPr sz="1600" b="0"/>
                        <a:t>58 features</a:t>
                      </a:r>
                    </a:p>
                  </a:txBody>
                  <a:tcPr/>
                </a:tc>
                <a:extLst>
                  <a:ext uri="{0D108BD9-81ED-4DB2-BD59-A6C34878D82A}">
                    <a16:rowId xmlns:a16="http://schemas.microsoft.com/office/drawing/2014/main" val="10001"/>
                  </a:ext>
                </a:extLst>
              </a:tr>
              <a:tr h="411480">
                <a:tc>
                  <a:txBody>
                    <a:bodyPr/>
                    <a:lstStyle/>
                    <a:p>
                      <a:r>
                        <a:rPr sz="1600" b="0"/>
                        <a:t>Neural network</a:t>
                      </a:r>
                    </a:p>
                  </a:txBody>
                  <a:tcPr/>
                </a:tc>
                <a:tc>
                  <a:txBody>
                    <a:bodyPr/>
                    <a:lstStyle/>
                    <a:p>
                      <a:r>
                        <a:rPr sz="1600" b="0"/>
                        <a:t>Feed-forward NN (baseline and tuned)</a:t>
                      </a:r>
                    </a:p>
                  </a:txBody>
                  <a:tcPr/>
                </a:tc>
                <a:tc>
                  <a:txBody>
                    <a:bodyPr/>
                    <a:lstStyle/>
                    <a:p>
                      <a:r>
                        <a:rPr sz="1600" b="0"/>
                        <a:t>58 features</a:t>
                      </a:r>
                    </a:p>
                  </a:txBody>
                  <a:tcPr/>
                </a:tc>
                <a:extLst>
                  <a:ext uri="{0D108BD9-81ED-4DB2-BD59-A6C34878D82A}">
                    <a16:rowId xmlns:a16="http://schemas.microsoft.com/office/drawing/2014/main" val="10002"/>
                  </a:ext>
                </a:extLst>
              </a:tr>
              <a:tr h="411480">
                <a:tc>
                  <a:txBody>
                    <a:bodyPr/>
                    <a:lstStyle/>
                    <a:p>
                      <a:r>
                        <a:rPr sz="1600" b="0"/>
                        <a:t>Neural network</a:t>
                      </a:r>
                    </a:p>
                  </a:txBody>
                  <a:tcPr/>
                </a:tc>
                <a:tc>
                  <a:txBody>
                    <a:bodyPr/>
                    <a:lstStyle/>
                    <a:p>
                      <a:r>
                        <a:rPr sz="1600" b="0"/>
                        <a:t>CNN · CNN + augmentation (two versions)</a:t>
                      </a:r>
                    </a:p>
                  </a:txBody>
                  <a:tcPr/>
                </a:tc>
                <a:tc>
                  <a:txBody>
                    <a:bodyPr/>
                    <a:lstStyle/>
                    <a:p>
                      <a:r>
                        <a:rPr sz="1600" b="0"/>
                        <a:t>128×128 spectrogram</a:t>
                      </a:r>
                    </a:p>
                  </a:txBody>
                  <a:tcPr/>
                </a:tc>
                <a:extLst>
                  <a:ext uri="{0D108BD9-81ED-4DB2-BD59-A6C34878D82A}">
                    <a16:rowId xmlns:a16="http://schemas.microsoft.com/office/drawing/2014/main" val="10003"/>
                  </a:ext>
                </a:extLst>
              </a:tr>
              <a:tr h="411480">
                <a:tc>
                  <a:txBody>
                    <a:bodyPr/>
                    <a:lstStyle/>
                    <a:p>
                      <a:r>
                        <a:rPr sz="1600" b="0"/>
                        <a:t>Neural network</a:t>
                      </a:r>
                    </a:p>
                  </a:txBody>
                  <a:tcPr/>
                </a:tc>
                <a:tc>
                  <a:txBody>
                    <a:bodyPr/>
                    <a:lstStyle/>
                    <a:p>
                      <a:r>
                        <a:rPr sz="1600" b="0"/>
                        <a:t>CNN-LSTM (conv blocks + bidirectional LSTM)</a:t>
                      </a:r>
                    </a:p>
                  </a:txBody>
                  <a:tcPr/>
                </a:tc>
                <a:tc>
                  <a:txBody>
                    <a:bodyPr/>
                    <a:lstStyle/>
                    <a:p>
                      <a:r>
                        <a:rPr sz="1600" b="0"/>
                        <a:t>128×128 spectrogram</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Evaluation Metrics and Success Criteria</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2451953"/>
          </a:xfrm>
          <a:prstGeom prst="rect">
            <a:avLst/>
          </a:prstGeom>
          <a:noFill/>
        </p:spPr>
        <p:txBody>
          <a:bodyPr wrap="square">
            <a:spAutoFit/>
          </a:bodyPr>
          <a:lstStyle/>
          <a:p>
            <a:pPr>
              <a:spcAft>
                <a:spcPts val="800"/>
              </a:spcAft>
            </a:pPr>
            <a:r>
              <a:rPr sz="2000" b="0" dirty="0"/>
              <a:t>•  Accuracy, macro precision, recall and F1 — every genre weighted equally</a:t>
            </a:r>
          </a:p>
          <a:p>
            <a:pPr>
              <a:spcAft>
                <a:spcPts val="800"/>
              </a:spcAft>
            </a:pPr>
            <a:r>
              <a:rPr sz="2000" b="0" dirty="0"/>
              <a:t>•  Confusion matrices and one-vs-rest ROC curves; macro and micro AUC</a:t>
            </a:r>
          </a:p>
          <a:p>
            <a:pPr>
              <a:spcAft>
                <a:spcPts val="800"/>
              </a:spcAft>
            </a:pPr>
            <a:r>
              <a:rPr sz="2000" b="0" dirty="0"/>
              <a:t>•  Training time, tuning time and model complexity</a:t>
            </a:r>
          </a:p>
          <a:p>
            <a:pPr>
              <a:spcAft>
                <a:spcPts val="800"/>
              </a:spcAft>
            </a:pPr>
            <a:r>
              <a:rPr sz="2000" b="0" dirty="0"/>
              <a:t>•  Success:</a:t>
            </a:r>
            <a:r>
              <a:rPr lang="en-US" sz="2000" b="0" dirty="0"/>
              <a:t> at least one model with &gt;= 80% test accuracy</a:t>
            </a:r>
            <a:endParaRPr sz="2000" b="1" dirty="0">
              <a:solidFill>
                <a:srgbClr val="C00000"/>
              </a:solidFill>
            </a:endParaRPr>
          </a:p>
          <a:p>
            <a:pPr>
              <a:spcAft>
                <a:spcPts val="800"/>
              </a:spcAft>
            </a:pPr>
            <a:r>
              <a:rPr sz="2000" b="0" dirty="0"/>
              <a:t>•  Failure:</a:t>
            </a:r>
            <a:r>
              <a:rPr lang="en-US" sz="2000" b="0" dirty="0"/>
              <a:t> all models are below 50% test accuracy</a:t>
            </a:r>
            <a:endParaRPr sz="2000" b="1" dirty="0">
              <a:solidFill>
                <a:srgbClr val="C00000"/>
              </a:solidFill>
            </a:endParaRPr>
          </a:p>
          <a:p>
            <a:pPr>
              <a:spcAft>
                <a:spcPts val="800"/>
              </a:spcAft>
            </a:pPr>
            <a:r>
              <a:rPr sz="2000" b="0" dirty="0"/>
              <a:t>•  Caution: 200 test songs → standard error ≈ 2.9 points, 95% margin ≈ ±5.3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Part 1: Tuning the Classical Models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graphicFrame>
        <p:nvGraphicFramePr>
          <p:cNvPr id="5" name="Table 4"/>
          <p:cNvGraphicFramePr>
            <a:graphicFrameLocks noGrp="1"/>
          </p:cNvGraphicFramePr>
          <p:nvPr/>
        </p:nvGraphicFramePr>
        <p:xfrm>
          <a:off x="640080" y="1371600"/>
          <a:ext cx="10881360" cy="205740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411480">
                <a:tc>
                  <a:txBody>
                    <a:bodyPr/>
                    <a:lstStyle/>
                    <a:p>
                      <a:r>
                        <a:rPr sz="1800" b="1"/>
                        <a:t>Model</a:t>
                      </a:r>
                    </a:p>
                  </a:txBody>
                  <a:tcPr/>
                </a:tc>
                <a:tc>
                  <a:txBody>
                    <a:bodyPr/>
                    <a:lstStyle/>
                    <a:p>
                      <a:r>
                        <a:rPr sz="1800" b="1"/>
                        <a:t>Default</a:t>
                      </a:r>
                    </a:p>
                  </a:txBody>
                  <a:tcPr/>
                </a:tc>
                <a:tc>
                  <a:txBody>
                    <a:bodyPr/>
                    <a:lstStyle/>
                    <a:p>
                      <a:r>
                        <a:rPr sz="1800" b="1"/>
                        <a:t>Tuned</a:t>
                      </a:r>
                    </a:p>
                  </a:txBody>
                  <a:tcPr/>
                </a:tc>
                <a:tc>
                  <a:txBody>
                    <a:bodyPr/>
                    <a:lstStyle/>
                    <a:p>
                      <a:r>
                        <a:rPr sz="1800" b="1"/>
                        <a:t>Macro AUC</a:t>
                      </a:r>
                    </a:p>
                  </a:txBody>
                  <a:tcPr/>
                </a:tc>
                <a:tc>
                  <a:txBody>
                    <a:bodyPr/>
                    <a:lstStyle/>
                    <a:p>
                      <a:r>
                        <a:rPr sz="1800" b="1"/>
                        <a:t>Tuning time</a:t>
                      </a:r>
                    </a:p>
                  </a:txBody>
                  <a:tcPr/>
                </a:tc>
                <a:extLst>
                  <a:ext uri="{0D108BD9-81ED-4DB2-BD59-A6C34878D82A}">
                    <a16:rowId xmlns:a16="http://schemas.microsoft.com/office/drawing/2014/main" val="10000"/>
                  </a:ext>
                </a:extLst>
              </a:tr>
              <a:tr h="411480">
                <a:tc>
                  <a:txBody>
                    <a:bodyPr/>
                    <a:lstStyle/>
                    <a:p>
                      <a:r>
                        <a:rPr sz="1800" b="0"/>
                        <a:t>SVM</a:t>
                      </a:r>
                    </a:p>
                  </a:txBody>
                  <a:tcPr/>
                </a:tc>
                <a:tc>
                  <a:txBody>
                    <a:bodyPr/>
                    <a:lstStyle/>
                    <a:p>
                      <a:r>
                        <a:rPr sz="1800" b="0"/>
                        <a:t>0.735</a:t>
                      </a:r>
                    </a:p>
                  </a:txBody>
                  <a:tcPr/>
                </a:tc>
                <a:tc>
                  <a:txBody>
                    <a:bodyPr/>
                    <a:lstStyle/>
                    <a:p>
                      <a:r>
                        <a:rPr sz="1800" b="0"/>
                        <a:t>0.765</a:t>
                      </a:r>
                    </a:p>
                  </a:txBody>
                  <a:tcPr/>
                </a:tc>
                <a:tc>
                  <a:txBody>
                    <a:bodyPr/>
                    <a:lstStyle/>
                    <a:p>
                      <a:r>
                        <a:rPr sz="1800" b="0"/>
                        <a:t>0.944</a:t>
                      </a:r>
                    </a:p>
                  </a:txBody>
                  <a:tcPr/>
                </a:tc>
                <a:tc>
                  <a:txBody>
                    <a:bodyPr/>
                    <a:lstStyle/>
                    <a:p>
                      <a:r>
                        <a:rPr sz="1800" b="0"/>
                        <a:t>11.9 s</a:t>
                      </a:r>
                    </a:p>
                  </a:txBody>
                  <a:tcPr/>
                </a:tc>
                <a:extLst>
                  <a:ext uri="{0D108BD9-81ED-4DB2-BD59-A6C34878D82A}">
                    <a16:rowId xmlns:a16="http://schemas.microsoft.com/office/drawing/2014/main" val="10001"/>
                  </a:ext>
                </a:extLst>
              </a:tr>
              <a:tr h="411480">
                <a:tc>
                  <a:txBody>
                    <a:bodyPr/>
                    <a:lstStyle/>
                    <a:p>
                      <a:r>
                        <a:rPr sz="1800" b="0"/>
                        <a:t>Random Forest</a:t>
                      </a:r>
                    </a:p>
                  </a:txBody>
                  <a:tcPr/>
                </a:tc>
                <a:tc>
                  <a:txBody>
                    <a:bodyPr/>
                    <a:lstStyle/>
                    <a:p>
                      <a:r>
                        <a:rPr sz="1800" b="0"/>
                        <a:t>0.775</a:t>
                      </a:r>
                    </a:p>
                  </a:txBody>
                  <a:tcPr/>
                </a:tc>
                <a:tc>
                  <a:txBody>
                    <a:bodyPr/>
                    <a:lstStyle/>
                    <a:p>
                      <a:r>
                        <a:rPr sz="1800" b="0"/>
                        <a:t>0.820</a:t>
                      </a:r>
                    </a:p>
                  </a:txBody>
                  <a:tcPr/>
                </a:tc>
                <a:tc>
                  <a:txBody>
                    <a:bodyPr/>
                    <a:lstStyle/>
                    <a:p>
                      <a:r>
                        <a:rPr sz="1800" b="0"/>
                        <a:t>0.975</a:t>
                      </a:r>
                    </a:p>
                  </a:txBody>
                  <a:tcPr/>
                </a:tc>
                <a:tc>
                  <a:txBody>
                    <a:bodyPr/>
                    <a:lstStyle/>
                    <a:p>
                      <a:r>
                        <a:rPr sz="1800" b="0"/>
                        <a:t>106.9 s</a:t>
                      </a:r>
                    </a:p>
                  </a:txBody>
                  <a:tcPr/>
                </a:tc>
                <a:extLst>
                  <a:ext uri="{0D108BD9-81ED-4DB2-BD59-A6C34878D82A}">
                    <a16:rowId xmlns:a16="http://schemas.microsoft.com/office/drawing/2014/main" val="10002"/>
                  </a:ext>
                </a:extLst>
              </a:tr>
              <a:tr h="411480">
                <a:tc>
                  <a:txBody>
                    <a:bodyPr/>
                    <a:lstStyle/>
                    <a:p>
                      <a:r>
                        <a:rPr sz="1800" b="0"/>
                        <a:t>k-NN</a:t>
                      </a:r>
                    </a:p>
                  </a:txBody>
                  <a:tcPr/>
                </a:tc>
                <a:tc>
                  <a:txBody>
                    <a:bodyPr/>
                    <a:lstStyle/>
                    <a:p>
                      <a:r>
                        <a:rPr sz="1800" b="0"/>
                        <a:t>0.675</a:t>
                      </a:r>
                    </a:p>
                  </a:txBody>
                  <a:tcPr/>
                </a:tc>
                <a:tc>
                  <a:txBody>
                    <a:bodyPr/>
                    <a:lstStyle/>
                    <a:p>
                      <a:r>
                        <a:rPr sz="1800" b="0"/>
                        <a:t>0.690</a:t>
                      </a:r>
                    </a:p>
                  </a:txBody>
                  <a:tcPr/>
                </a:tc>
                <a:tc>
                  <a:txBody>
                    <a:bodyPr/>
                    <a:lstStyle/>
                    <a:p>
                      <a:r>
                        <a:rPr sz="1800" b="0"/>
                        <a:t>0.905</a:t>
                      </a:r>
                    </a:p>
                  </a:txBody>
                  <a:tcPr/>
                </a:tc>
                <a:tc>
                  <a:txBody>
                    <a:bodyPr/>
                    <a:lstStyle/>
                    <a:p>
                      <a:r>
                        <a:rPr sz="1800" b="0"/>
                        <a:t>0.4 s</a:t>
                      </a:r>
                    </a:p>
                  </a:txBody>
                  <a:tcPr/>
                </a:tc>
                <a:extLst>
                  <a:ext uri="{0D108BD9-81ED-4DB2-BD59-A6C34878D82A}">
                    <a16:rowId xmlns:a16="http://schemas.microsoft.com/office/drawing/2014/main" val="10003"/>
                  </a:ext>
                </a:extLst>
              </a:tr>
              <a:tr h="411480">
                <a:tc>
                  <a:txBody>
                    <a:bodyPr/>
                    <a:lstStyle/>
                    <a:p>
                      <a:r>
                        <a:rPr sz="1800" b="0"/>
                        <a:t>Gradient Boosting</a:t>
                      </a:r>
                    </a:p>
                  </a:txBody>
                  <a:tcPr/>
                </a:tc>
                <a:tc>
                  <a:txBody>
                    <a:bodyPr/>
                    <a:lstStyle/>
                    <a:p>
                      <a:r>
                        <a:rPr sz="1800" b="0"/>
                        <a:t>0.780</a:t>
                      </a:r>
                    </a:p>
                  </a:txBody>
                  <a:tcPr/>
                </a:tc>
                <a:tc>
                  <a:txBody>
                    <a:bodyPr/>
                    <a:lstStyle/>
                    <a:p>
                      <a:r>
                        <a:rPr sz="1800" b="0"/>
                        <a:t>0.795</a:t>
                      </a:r>
                    </a:p>
                  </a:txBody>
                  <a:tcPr/>
                </a:tc>
                <a:tc>
                  <a:txBody>
                    <a:bodyPr/>
                    <a:lstStyle/>
                    <a:p>
                      <a:r>
                        <a:rPr sz="1800" b="0"/>
                        <a:t>0.978</a:t>
                      </a:r>
                    </a:p>
                  </a:txBody>
                  <a:tcPr/>
                </a:tc>
                <a:tc>
                  <a:txBody>
                    <a:bodyPr/>
                    <a:lstStyle/>
                    <a:p>
                      <a:r>
                        <a:rPr sz="1800" b="0"/>
                        <a:t>3,234.8 s</a:t>
                      </a:r>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640080" y="4023360"/>
            <a:ext cx="10881360" cy="457200"/>
          </a:xfrm>
          <a:prstGeom prst="rect">
            <a:avLst/>
          </a:prstGeom>
          <a:noFill/>
        </p:spPr>
        <p:txBody>
          <a:bodyPr wrap="square">
            <a:spAutoFit/>
          </a:bodyPr>
          <a:lstStyle/>
          <a:p>
            <a:pPr algn="ctr"/>
            <a:r>
              <a:rPr sz="1500" b="0">
                <a:solidFill>
                  <a:srgbClr val="555555"/>
                </a:solidFill>
              </a:rPr>
              <a:t>Random Forest and Gradient Boosting both reach 0.9988 training accuracy — generalization gaps of 0.18 and 0.20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Part 2: Neural Networks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4937760"/>
          </a:xfrm>
          <a:prstGeom prst="rect">
            <a:avLst/>
          </a:prstGeom>
          <a:noFill/>
        </p:spPr>
        <p:txBody>
          <a:bodyPr wrap="square">
            <a:spAutoFit/>
          </a:bodyPr>
          <a:lstStyle/>
          <a:p>
            <a:pPr>
              <a:spcAft>
                <a:spcPts val="800"/>
              </a:spcAft>
            </a:pPr>
            <a:r>
              <a:rPr sz="2000" b="0"/>
              <a:t>•  Feed-forward NN: 0.775 in under 5 s — tuning re-selected the baseline, then scored 0.755</a:t>
            </a:r>
          </a:p>
          <a:p>
            <a:pPr>
              <a:spcAft>
                <a:spcPts val="800"/>
              </a:spcAft>
            </a:pPr>
            <a:r>
              <a:rPr sz="2000" b="0"/>
              <a:t>•  CNN on spectrograms: 0.785 — best neural model, but 0.998 training accuracy</a:t>
            </a:r>
          </a:p>
          <a:p>
            <a:pPr>
              <a:spcAft>
                <a:spcPts val="800"/>
              </a:spcAft>
            </a:pPr>
            <a:r>
              <a:rPr sz="2000" b="0"/>
              <a:t>•  CNN tuning (2×2 grid): again re-selected the hand-chosen configuration</a:t>
            </a:r>
          </a:p>
          <a:p>
            <a:pPr>
              <a:spcAft>
                <a:spcPts val="800"/>
              </a:spcAft>
            </a:pPr>
            <a:r>
              <a:rPr sz="2000" b="0"/>
              <a:t>•  Augmentation: slowed memorization, did not raise test accuracy (0.760 / 0.740)</a:t>
            </a:r>
          </a:p>
          <a:p>
            <a:pPr>
              <a:spcAft>
                <a:spcPts val="400"/>
              </a:spcAft>
            </a:pPr>
            <a:r>
              <a:rPr sz="1700" b="0"/>
              <a:t>      –  the two augmentation variants swapped order across three runs — noise</a:t>
            </a:r>
          </a:p>
          <a:p>
            <a:pPr>
              <a:spcAft>
                <a:spcPts val="800"/>
              </a:spcAft>
            </a:pPr>
            <a:r>
              <a:rPr sz="2000" b="0"/>
              <a:t>•  CNN-LSTM: 0.700 — largest model (653k parameters), weakest neural result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All Ten Models Compared</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pic>
        <p:nvPicPr>
          <p:cNvPr id="5" name="Picture 4" descr="p2_c088_0.png"/>
          <p:cNvPicPr>
            <a:picLocks noChangeAspect="1"/>
          </p:cNvPicPr>
          <p:nvPr/>
        </p:nvPicPr>
        <p:blipFill>
          <a:blip r:embed="rId3"/>
          <a:stretch>
            <a:fillRect/>
          </a:stretch>
        </p:blipFill>
        <p:spPr>
          <a:xfrm>
            <a:off x="1369733" y="1188720"/>
            <a:ext cx="9422052" cy="4663440"/>
          </a:xfrm>
          <a:prstGeom prst="rect">
            <a:avLst/>
          </a:prstGeom>
        </p:spPr>
      </p:pic>
      <p:sp>
        <p:nvSpPr>
          <p:cNvPr id="6" name="TextBox 5"/>
          <p:cNvSpPr txBox="1"/>
          <p:nvPr/>
        </p:nvSpPr>
        <p:spPr>
          <a:xfrm>
            <a:off x="640080" y="5897880"/>
            <a:ext cx="10881360" cy="457200"/>
          </a:xfrm>
          <a:prstGeom prst="rect">
            <a:avLst/>
          </a:prstGeom>
          <a:noFill/>
        </p:spPr>
        <p:txBody>
          <a:bodyPr wrap="square">
            <a:spAutoFit/>
          </a:bodyPr>
          <a:lstStyle/>
          <a:p>
            <a:pPr algn="ctr"/>
            <a:r>
              <a:rPr sz="1500" b="0">
                <a:solidFill>
                  <a:srgbClr val="555555"/>
                </a:solidFill>
              </a:rPr>
              <a:t>Test accuracy and macro F1 on the 200 held-out songs (dashed line = chance)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Accuracy versus Training Cost</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pic>
        <p:nvPicPr>
          <p:cNvPr id="5" name="Picture 4" descr="p2_c090_0.png"/>
          <p:cNvPicPr>
            <a:picLocks noChangeAspect="1"/>
          </p:cNvPicPr>
          <p:nvPr/>
        </p:nvPicPr>
        <p:blipFill>
          <a:blip r:embed="rId3"/>
          <a:stretch>
            <a:fillRect/>
          </a:stretch>
        </p:blipFill>
        <p:spPr>
          <a:xfrm>
            <a:off x="2502511" y="1143000"/>
            <a:ext cx="7156497" cy="4754880"/>
          </a:xfrm>
          <a:prstGeom prst="rect">
            <a:avLst/>
          </a:prstGeom>
        </p:spPr>
      </p:pic>
      <p:sp>
        <p:nvSpPr>
          <p:cNvPr id="6" name="TextBox 5"/>
          <p:cNvSpPr txBox="1"/>
          <p:nvPr/>
        </p:nvSpPr>
        <p:spPr>
          <a:xfrm>
            <a:off x="640080" y="5897880"/>
            <a:ext cx="10881360" cy="457200"/>
          </a:xfrm>
          <a:prstGeom prst="rect">
            <a:avLst/>
          </a:prstGeom>
          <a:noFill/>
        </p:spPr>
        <p:txBody>
          <a:bodyPr wrap="square">
            <a:spAutoFit/>
          </a:bodyPr>
          <a:lstStyle/>
          <a:p>
            <a:pPr algn="ctr"/>
            <a:r>
              <a:rPr sz="1500" b="0">
                <a:solidFill>
                  <a:srgbClr val="555555"/>
                </a:solidFill>
              </a:rPr>
              <a:t>Random Forest: 0.820 in 0.5 s.   CNN: 0.785 in 697 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The CNN Memorizes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pic>
        <p:nvPicPr>
          <p:cNvPr id="5" name="Picture 4" descr="p2_c039_0.png"/>
          <p:cNvPicPr>
            <a:picLocks noChangeAspect="1"/>
          </p:cNvPicPr>
          <p:nvPr/>
        </p:nvPicPr>
        <p:blipFill>
          <a:blip r:embed="rId3"/>
          <a:stretch>
            <a:fillRect/>
          </a:stretch>
        </p:blipFill>
        <p:spPr>
          <a:xfrm>
            <a:off x="640080" y="1737360"/>
            <a:ext cx="10881360" cy="3566160"/>
          </a:xfrm>
          <a:prstGeom prst="rect">
            <a:avLst/>
          </a:prstGeom>
        </p:spPr>
      </p:pic>
      <p:sp>
        <p:nvSpPr>
          <p:cNvPr id="6" name="TextBox 5"/>
          <p:cNvSpPr txBox="1"/>
          <p:nvPr/>
        </p:nvSpPr>
        <p:spPr>
          <a:xfrm>
            <a:off x="640080" y="5897880"/>
            <a:ext cx="10881360" cy="457200"/>
          </a:xfrm>
          <a:prstGeom prst="rect">
            <a:avLst/>
          </a:prstGeom>
          <a:noFill/>
        </p:spPr>
        <p:txBody>
          <a:bodyPr wrap="square">
            <a:spAutoFit/>
          </a:bodyPr>
          <a:lstStyle/>
          <a:p>
            <a:pPr algn="ctr"/>
            <a:r>
              <a:rPr sz="1500" b="0">
                <a:solidFill>
                  <a:srgbClr val="555555"/>
                </a:solidFill>
              </a:rPr>
              <a:t>Baseline CNN learning curves — a 21-point generalization gap on the test 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Where the Models Fail</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pic>
        <p:nvPicPr>
          <p:cNvPr id="5" name="Picture 4" descr="p2_c046_0.png"/>
          <p:cNvPicPr>
            <a:picLocks noChangeAspect="1"/>
          </p:cNvPicPr>
          <p:nvPr/>
        </p:nvPicPr>
        <p:blipFill>
          <a:blip r:embed="rId3"/>
          <a:stretch>
            <a:fillRect/>
          </a:stretch>
        </p:blipFill>
        <p:spPr>
          <a:xfrm>
            <a:off x="756138" y="1188720"/>
            <a:ext cx="4979963" cy="4663440"/>
          </a:xfrm>
          <a:prstGeom prst="rect">
            <a:avLst/>
          </a:prstGeom>
        </p:spPr>
      </p:pic>
      <p:pic>
        <p:nvPicPr>
          <p:cNvPr id="6" name="Picture 5" descr="p2_c046_1.png"/>
          <p:cNvPicPr>
            <a:picLocks noChangeAspect="1"/>
          </p:cNvPicPr>
          <p:nvPr/>
        </p:nvPicPr>
        <p:blipFill>
          <a:blip r:embed="rId4"/>
          <a:stretch>
            <a:fillRect/>
          </a:stretch>
        </p:blipFill>
        <p:spPr>
          <a:xfrm>
            <a:off x="6126480" y="1316749"/>
            <a:ext cx="5577840" cy="4407381"/>
          </a:xfrm>
          <a:prstGeom prst="rect">
            <a:avLst/>
          </a:prstGeom>
        </p:spPr>
      </p:pic>
      <p:sp>
        <p:nvSpPr>
          <p:cNvPr id="7" name="TextBox 6"/>
          <p:cNvSpPr txBox="1"/>
          <p:nvPr/>
        </p:nvSpPr>
        <p:spPr>
          <a:xfrm>
            <a:off x="640080" y="5897880"/>
            <a:ext cx="10881360" cy="457200"/>
          </a:xfrm>
          <a:prstGeom prst="rect">
            <a:avLst/>
          </a:prstGeom>
          <a:noFill/>
        </p:spPr>
        <p:txBody>
          <a:bodyPr wrap="square">
            <a:spAutoFit/>
          </a:bodyPr>
          <a:lstStyle/>
          <a:p>
            <a:pPr algn="ctr"/>
            <a:r>
              <a:rPr sz="1500" b="0">
                <a:solidFill>
                  <a:srgbClr val="555555"/>
                </a:solidFill>
              </a:rPr>
              <a:t>Baseline CNN: classical identified perfectly; rock and disco weakest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Key Findings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4937760"/>
          </a:xfrm>
          <a:prstGeom prst="rect">
            <a:avLst/>
          </a:prstGeom>
          <a:noFill/>
        </p:spPr>
        <p:txBody>
          <a:bodyPr wrap="square">
            <a:spAutoFit/>
          </a:bodyPr>
          <a:lstStyle/>
          <a:p>
            <a:pPr>
              <a:spcAft>
                <a:spcPts val="800"/>
              </a:spcAft>
            </a:pPr>
            <a:r>
              <a:rPr sz="2000" b="0"/>
              <a:t>•  Best model: tuned Random Forest — 0.820 accuracy in half a second</a:t>
            </a:r>
          </a:p>
          <a:p>
            <a:pPr>
              <a:spcAft>
                <a:spcPts val="800"/>
              </a:spcAft>
            </a:pPr>
            <a:r>
              <a:rPr sz="2000" b="0"/>
              <a:t>•  Most of the ranking is sampling noise (±5.3-point margin)</a:t>
            </a:r>
          </a:p>
          <a:p>
            <a:pPr>
              <a:spcAft>
                <a:spcPts val="400"/>
              </a:spcAft>
            </a:pPr>
            <a:r>
              <a:rPr sz="1700" b="0"/>
              <a:t>      –  only k-NN and CNN-LSTM are clearly worse than the leader</a:t>
            </a:r>
          </a:p>
          <a:p>
            <a:pPr>
              <a:spcAft>
                <a:spcPts val="800"/>
              </a:spcAft>
            </a:pPr>
            <a:r>
              <a:rPr sz="2000" b="0"/>
              <a:t>•  More capacity did not help — the largest model was the weakest neural network</a:t>
            </a:r>
          </a:p>
          <a:p>
            <a:pPr>
              <a:spcAft>
                <a:spcPts val="800"/>
              </a:spcAft>
            </a:pPr>
            <a:r>
              <a:rPr sz="2000" b="0"/>
              <a:t>•  Tuning, augmentation and architecture all failed to move the result</a:t>
            </a:r>
          </a:p>
          <a:p>
            <a:pPr>
              <a:spcAft>
                <a:spcPts val="800"/>
              </a:spcAft>
            </a:pPr>
            <a:r>
              <a:rPr sz="2000" b="0"/>
              <a:t>•  Per-genre pattern is stable: classical easy; rock hard and over-predicted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Challenges and How They Were Solved</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4937760"/>
          </a:xfrm>
          <a:prstGeom prst="rect">
            <a:avLst/>
          </a:prstGeom>
          <a:noFill/>
        </p:spPr>
        <p:txBody>
          <a:bodyPr wrap="square">
            <a:spAutoFit/>
          </a:bodyPr>
          <a:lstStyle/>
          <a:p>
            <a:pPr>
              <a:spcAft>
                <a:spcPts val="800"/>
              </a:spcAft>
            </a:pPr>
            <a:r>
              <a:rPr sz="1800" b="0"/>
              <a:t>•  CNN behaved like a random classifier → batch-norm momentum 0.99 too slow for ~20 updates/epoch; set to 0.9</a:t>
            </a:r>
          </a:p>
          <a:p>
            <a:pPr>
              <a:spcAft>
                <a:spcPts val="800"/>
              </a:spcAft>
            </a:pPr>
            <a:r>
              <a:rPr sz="1800" b="0"/>
              <a:t>•  Keras validation_split took only the last genre → explicit stratified split</a:t>
            </a:r>
          </a:p>
          <a:p>
            <a:pPr>
              <a:spcAft>
                <a:spcPts val="800"/>
              </a:spcAft>
            </a:pPr>
            <a:r>
              <a:rPr sz="1800" b="0"/>
              <a:t>•  Augmentation silently replayed identical images every epoch → diagnosed with iterator tests, fixed with a seeded generator</a:t>
            </a:r>
          </a:p>
          <a:p>
            <a:pPr>
              <a:spcAft>
                <a:spcPts val="800"/>
              </a:spcAft>
            </a:pPr>
            <a:r>
              <a:rPr sz="1800" b="0"/>
              <a:t>•  Augmented runs not reproducible → measured the variation across three runs and reported it</a:t>
            </a:r>
          </a:p>
          <a:p>
            <a:pPr>
              <a:spcAft>
                <a:spcPts val="800"/>
              </a:spcAft>
            </a:pPr>
            <a:r>
              <a:rPr sz="1800" b="0"/>
              <a:t>•  Stale notebook state → clean restart-and-run-all; every number re-verified</a:t>
            </a:r>
          </a:p>
          <a:p>
            <a:pPr>
              <a:spcAft>
                <a:spcPts val="800"/>
              </a:spcAft>
            </a:pPr>
            <a:r>
              <a:rPr sz="1800" b="0"/>
              <a:t>•  A plausible 'disco magnet' hypothesis did not reproduce → withdrawn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Ethics and Bias</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3860031"/>
          </a:xfrm>
          <a:prstGeom prst="rect">
            <a:avLst/>
          </a:prstGeom>
          <a:noFill/>
        </p:spPr>
        <p:txBody>
          <a:bodyPr wrap="square">
            <a:spAutoFit/>
          </a:bodyPr>
          <a:lstStyle/>
          <a:p>
            <a:pPr>
              <a:spcAft>
                <a:spcPts val="700"/>
              </a:spcAft>
            </a:pPr>
            <a:r>
              <a:rPr sz="1700" dirty="0"/>
              <a:t>•  Genre labels are subjective and culturally constructed</a:t>
            </a:r>
          </a:p>
          <a:p>
            <a:pPr>
              <a:spcAft>
                <a:spcPts val="700"/>
              </a:spcAft>
            </a:pPr>
            <a:r>
              <a:rPr sz="1700" dirty="0"/>
              <a:t>•  One small dataset can't cover the world's music — ten Western popular genres, c. 2000</a:t>
            </a:r>
            <a:endParaRPr sz="1700" b="1" dirty="0">
              <a:solidFill>
                <a:srgbClr val="C00000"/>
              </a:solidFill>
            </a:endParaRPr>
          </a:p>
          <a:p>
            <a:pPr>
              <a:spcAft>
                <a:spcPts val="700"/>
              </a:spcAft>
            </a:pPr>
            <a:r>
              <a:rPr sz="1700" dirty="0"/>
              <a:t>•  Performers' gender, race, country, language, wealth and more are not recorded — the dataset can't even be audited for these biases</a:t>
            </a:r>
          </a:p>
          <a:p>
            <a:pPr>
              <a:spcAft>
                <a:spcPts val="700"/>
              </a:spcAft>
            </a:pPr>
            <a:r>
              <a:rPr sz="1700" dirty="0"/>
              <a:t>•  Recent Western, English-language music dominates online catalogues; music from lower-income countries and the Global South is under-represented</a:t>
            </a:r>
          </a:p>
          <a:p>
            <a:pPr>
              <a:spcAft>
                <a:spcPts val="700"/>
              </a:spcAft>
            </a:pPr>
            <a:r>
              <a:rPr sz="1700" dirty="0"/>
              <a:t>•  Model bias: the CNN over-predicts rock — a recommender would push other genres' songs into rock</a:t>
            </a:r>
          </a:p>
          <a:p>
            <a:pPr>
              <a:spcAft>
                <a:spcPts val="700"/>
              </a:spcAft>
            </a:pPr>
            <a:r>
              <a:rPr sz="1700" dirty="0"/>
              <a:t>•  </a:t>
            </a:r>
            <a:r>
              <a:rPr lang="en-US" sz="1700" dirty="0"/>
              <a:t>There could be </a:t>
            </a:r>
            <a:r>
              <a:rPr sz="1700" dirty="0"/>
              <a:t>repeated and </a:t>
            </a:r>
            <a:r>
              <a:rPr sz="1700" dirty="0" err="1"/>
              <a:t>mislabelled</a:t>
            </a:r>
            <a:r>
              <a:rPr sz="1700" dirty="0"/>
              <a:t> clips in GTZAN</a:t>
            </a:r>
            <a:r>
              <a:rPr lang="en-US" sz="1700" dirty="0"/>
              <a:t> [mentioned in Sturm 2013]</a:t>
            </a:r>
            <a:r>
              <a:rPr sz="1700" dirty="0"/>
              <a:t> </a:t>
            </a:r>
            <a:endParaRPr lang="en-US" sz="1700" dirty="0"/>
          </a:p>
          <a:p>
            <a:pPr>
              <a:spcAft>
                <a:spcPts val="700"/>
              </a:spcAft>
            </a:pPr>
            <a:r>
              <a:rPr sz="1700" dirty="0"/>
              <a:t>•  Leaky evaluation (segments of one song in train and test) overstates accuracy — &gt;90% reported elsewhere</a:t>
            </a:r>
          </a:p>
          <a:p>
            <a:pPr>
              <a:spcAft>
                <a:spcPts val="700"/>
              </a:spcAft>
            </a:pPr>
            <a:r>
              <a:rPr sz="1700" dirty="0"/>
              <a:t>•</a:t>
            </a:r>
            <a:r>
              <a:rPr lang="en-US" sz="1700" dirty="0"/>
              <a:t>  Commercially released music has issues regarding copyright and licensing.  Other music for possible training use in the future needs to be chosen carefully so as not to risk concerns of stealing artist works by professional musicians who would prefer that their music not be used for training AI systems.</a:t>
            </a:r>
            <a:endParaRPr sz="1700" b="1" dirty="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822960"/>
          </a:xfrm>
          <a:prstGeom prst="rect">
            <a:avLst/>
          </a:prstGeom>
          <a:noFill/>
        </p:spPr>
        <p:txBody>
          <a:bodyPr wrap="square">
            <a:spAutoFit/>
          </a:bodyPr>
          <a:lstStyle/>
          <a:p>
            <a:r>
              <a:rPr sz="3200" b="1">
                <a:solidFill>
                  <a:srgbClr val="1F3A5F"/>
                </a:solidFill>
              </a:rPr>
              <a:t>Conclusion and Future Work</a:t>
            </a:r>
          </a:p>
        </p:txBody>
      </p:sp>
      <p:sp>
        <p:nvSpPr>
          <p:cNvPr id="4" name="TextBox 3"/>
          <p:cNvSpPr txBox="1"/>
          <p:nvPr/>
        </p:nvSpPr>
        <p:spPr>
          <a:xfrm>
            <a:off x="548640" y="6400800"/>
            <a:ext cx="11064240" cy="320040"/>
          </a:xfrm>
          <a:prstGeom prst="rect">
            <a:avLst/>
          </a:prstGeom>
          <a:noFill/>
        </p:spPr>
        <p:txBody>
          <a:bodyPr wrap="none">
            <a:spAutoFit/>
          </a:bodyPr>
          <a:lstStyle/>
          <a:p>
            <a:r>
              <a:rPr sz="1100" b="0">
                <a:solidFill>
                  <a:srgbClr val="555555"/>
                </a:solidFill>
              </a:rPr>
              <a:t>Music Genre Classification — Brian Miller — TECH 27, Summer 2026</a:t>
            </a:r>
          </a:p>
        </p:txBody>
      </p:sp>
      <p:sp>
        <p:nvSpPr>
          <p:cNvPr id="5" name="TextBox 4"/>
          <p:cNvSpPr txBox="1"/>
          <p:nvPr/>
        </p:nvSpPr>
        <p:spPr>
          <a:xfrm>
            <a:off x="640080" y="1325880"/>
            <a:ext cx="10881360" cy="4937760"/>
          </a:xfrm>
          <a:prstGeom prst="rect">
            <a:avLst/>
          </a:prstGeom>
          <a:noFill/>
        </p:spPr>
        <p:txBody>
          <a:bodyPr wrap="square">
            <a:spAutoFit/>
          </a:bodyPr>
          <a:lstStyle/>
          <a:p>
            <a:pPr>
              <a:spcAft>
                <a:spcPts val="800"/>
              </a:spcAft>
            </a:pPr>
            <a:r>
              <a:rPr sz="2000" b="0"/>
              <a:t>•  Simple, fast models matched or beat the neural networks on this dataset</a:t>
            </a:r>
          </a:p>
          <a:p>
            <a:pPr>
              <a:spcAft>
                <a:spcPts val="800"/>
              </a:spcAft>
            </a:pPr>
            <a:r>
              <a:rPr sz="2000" b="0"/>
              <a:t>•  Findings agree with published work (Akhtar &amp; Mishra, arXiv 2025)</a:t>
            </a:r>
          </a:p>
          <a:p>
            <a:pPr>
              <a:spcAft>
                <a:spcPts val="800"/>
              </a:spcAft>
            </a:pPr>
            <a:r>
              <a:rPr sz="2000" b="0"/>
              <a:t>•  Future work:</a:t>
            </a:r>
          </a:p>
          <a:p>
            <a:pPr>
              <a:spcAft>
                <a:spcPts val="400"/>
              </a:spcAft>
            </a:pPr>
            <a:r>
              <a:rPr sz="1700" b="0"/>
              <a:t>      –  3-second segment features with a song-level split (10× more rows)</a:t>
            </a:r>
          </a:p>
          <a:p>
            <a:pPr>
              <a:spcAft>
                <a:spcPts val="400"/>
              </a:spcAft>
            </a:pPr>
            <a:r>
              <a:rPr sz="1700" b="0"/>
              <a:t>      –  transfer learning from a pretrained network</a:t>
            </a:r>
          </a:p>
          <a:p>
            <a:pPr>
              <a:spcAft>
                <a:spcPts val="400"/>
              </a:spcAft>
            </a:pPr>
            <a:r>
              <a:rPr sz="1700" b="0"/>
              <a:t>      –  soft-voting ensembles of existing models</a:t>
            </a:r>
          </a:p>
          <a:p>
            <a:pPr>
              <a:spcAft>
                <a:spcPts val="400"/>
              </a:spcAft>
            </a:pPr>
            <a:r>
              <a:rPr sz="1700" b="0"/>
              <a:t>      –  repeated / cross-validated evaluation for confidence intervals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560320"/>
            <a:ext cx="10515600" cy="1828800"/>
          </a:xfrm>
          <a:prstGeom prst="rect">
            <a:avLst/>
          </a:prstGeom>
          <a:noFill/>
        </p:spPr>
        <p:txBody>
          <a:bodyPr wrap="none">
            <a:spAutoFit/>
          </a:bodyPr>
          <a:lstStyle/>
          <a:p>
            <a:pPr algn="ctr"/>
            <a:r>
              <a:rPr sz="4800" b="1">
                <a:solidFill>
                  <a:srgbClr val="1F3A5F"/>
                </a:solidFill>
              </a:rPr>
              <a:t>Questions?</a:t>
            </a:r>
          </a:p>
          <a:p>
            <a:pPr algn="ctr"/>
            <a:r>
              <a:rPr sz="2000" b="0">
                <a:solidFill>
                  <a:srgbClr val="555555"/>
                </a:solidFill>
              </a:rPr>
              <a:t>Brian Miller — Music Genre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1533</Words>
  <Application>Microsoft Macintosh PowerPoint</Application>
  <PresentationFormat>Widescreen</PresentationFormat>
  <Paragraphs>151</Paragraphs>
  <Slides>17</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Brian Miller</cp:lastModifiedBy>
  <cp:revision>5</cp:revision>
  <dcterms:created xsi:type="dcterms:W3CDTF">2013-01-27T09:14:16Z</dcterms:created>
  <dcterms:modified xsi:type="dcterms:W3CDTF">2026-09-11T02:27:25Z</dcterms:modified>
  <cp:category/>
</cp:coreProperties>
</file>